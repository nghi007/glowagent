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D4890A"/>
          </a:solidFill>
          <a:ln w="12700">
            <a:solidFill>
              <a:srgbClr val="D489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0" y="109728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0F0E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PITCH
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i="1" dirty="0">
                <a:solidFill>
                  <a:srgbClr val="0F0E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949440" y="2560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400" kern="0" dirty="0">
                <a:solidFill>
                  <a:srgbClr val="0F0E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949440" y="2926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B5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Glowdom Technologies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Glow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0" b="1" i="1" dirty="0">
                <a:solidFill>
                  <a:srgbClr val="D489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</a:t>
            </a:r>
            <a:endParaRPr lang="en-US" sz="88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09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co-founder for African SMEs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A5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education &amp; business — built for SADC entrepreneurs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6858000" cy="388620"/>
          </a:xfrm>
          <a:prstGeom prst="rect">
            <a:avLst/>
          </a:prstGeom>
          <a:solidFill>
            <a:srgbClr val="1A1915"/>
          </a:solidFill>
          <a:ln w="12700">
            <a:solidFill>
              <a:srgbClr val="1A191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773168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5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Sebulon David  ·  Founder, Glowdom Technologies  ·  AI SADC Regional Director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D489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46720" y="1645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A52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0E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African SMEs are flying blind.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continent's economic engine — 60%+ of employment — runs on businesses that can't access the tools, talent, or knowledge to grow.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1920240" cy="2377440"/>
          </a:xfrm>
          <a:prstGeom prst="rect">
            <a:avLst/>
          </a:prstGeom>
          <a:solidFill>
            <a:srgbClr val="0F0E0C"/>
          </a:solidFill>
          <a:ln w="12700">
            <a:solidFill>
              <a:srgbClr val="0F0E0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99339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🧱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248716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Gap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83464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 to business education that's relevant to their real context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68880" y="1874520"/>
            <a:ext cx="1920240" cy="2377440"/>
          </a:xfrm>
          <a:prstGeom prst="rect">
            <a:avLst/>
          </a:prstGeom>
          <a:solidFill>
            <a:srgbClr val="B83B1A"/>
          </a:solidFill>
          <a:ln w="12700">
            <a:solidFill>
              <a:srgbClr val="B83B1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06040" y="199339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606040" y="248716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Talent Cost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06040" y="283464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afford accountants, marketers or consultants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0" y="1874520"/>
            <a:ext cx="1920240" cy="2377440"/>
          </a:xfrm>
          <a:prstGeom prst="rect">
            <a:avLst/>
          </a:prstGeom>
          <a:solidFill>
            <a:srgbClr val="0F0E0C"/>
          </a:solidFill>
          <a:ln w="12700">
            <a:solidFill>
              <a:srgbClr val="0F0E0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9160" y="199339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09160" y="248716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Capital Locked Out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09160" y="283464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Proposals, financials and funding apps are too complex without help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675120" y="1874520"/>
            <a:ext cx="1920240" cy="2377440"/>
          </a:xfrm>
          <a:prstGeom prst="rect">
            <a:avLst/>
          </a:prstGeom>
          <a:solidFill>
            <a:srgbClr val="B83B1A"/>
          </a:solidFill>
          <a:ln w="12700">
            <a:solidFill>
              <a:srgbClr val="B83B1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12280" y="199339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12280" y="248716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Poverty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12280" y="283464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busy operating to find time to learn or plan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44348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 of African SMEs cite lack of skills and access to finance as the #1 barrier to growth — AfDB 2024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8E0D0"/>
          </a:solidFill>
          <a:ln w="12700">
            <a:solidFill>
              <a:srgbClr val="E8E0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86460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52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GlowAgent  ·  Glowdom Technologies  ·  Confidential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743200" y="4864608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5A52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Sebulon David  ·  AI SADC Regional Director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D489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46720" y="1645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A52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D4890A"/>
          </a:solidFill>
          <a:ln w="12700">
            <a:solidFill>
              <a:srgbClr val="D489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91440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i="1" dirty="0">
                <a:solidFill>
                  <a:srgbClr val="0F0E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0F0E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82880" y="237744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i="1" dirty="0">
                <a:solidFill>
                  <a:srgbClr val="6B4A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6B4A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modes.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82880" y="36576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8B60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Infinite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i="1" dirty="0">
                <a:solidFill>
                  <a:srgbClr val="8B60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possibility.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749040" y="3657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GlowAgent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749040" y="105156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that simultaneously teaches entrepreneurs AND runs their business operations — inside a single mobile-first platform.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49040" y="1920240"/>
            <a:ext cx="5029200" cy="1280160"/>
          </a:xfrm>
          <a:prstGeom prst="rect">
            <a:avLst/>
          </a:prstGeom>
          <a:solidFill>
            <a:srgbClr val="2D5F35"/>
          </a:solidFill>
          <a:ln w="12700">
            <a:solidFill>
              <a:srgbClr val="2D5F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86200" y="20116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LEARN MODE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86200" y="226771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Education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86200" y="26060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Teaches through the founder's real business context. No pre-built courses. Learning happens inside actual work tasks.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749040" y="3337560"/>
            <a:ext cx="5029200" cy="1280160"/>
          </a:xfrm>
          <a:prstGeom prst="rect">
            <a:avLst/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86200" y="34290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BUILD MODE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86200" y="368503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Business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886200" y="40233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proposals, financial projections, compliance guidance and marketing copy autonomously on behalf of the SME.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915"/>
          </a:solidFill>
          <a:ln w="12700">
            <a:solidFill>
              <a:srgbClr val="1A191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86460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55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GlowAgent  ·  Glowdom Technologies  ·  Confidential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743200" y="4864608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555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Sebulon David  ·  AI SADC Regional Director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D489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46720" y="1645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A52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0E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Agent Loop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specialist AI agents work together inside a persistent business memory system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1508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45920"/>
            <a:ext cx="1508760" cy="256032"/>
          </a:xfrm>
          <a:prstGeom prst="rect">
            <a:avLst/>
          </a:prstGeom>
          <a:solidFill>
            <a:srgbClr val="B83B1A"/>
          </a:solidFill>
          <a:ln w="12700">
            <a:solidFill>
              <a:srgbClr val="B83B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7335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99339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E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Diagnostic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34086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5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69748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+ action plan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83664" y="2834640"/>
            <a:ext cx="155448" cy="0"/>
          </a:xfrm>
          <a:prstGeom prst="line">
            <a:avLst/>
          </a:prstGeom>
          <a:noFill/>
          <a:ln w="19050">
            <a:solidFill>
              <a:srgbClr val="D4890A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2048256" y="1645920"/>
            <a:ext cx="1508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48256" y="1645920"/>
            <a:ext cx="1508760" cy="256032"/>
          </a:xfrm>
          <a:prstGeom prst="rect">
            <a:avLst/>
          </a:prstGeom>
          <a:solidFill>
            <a:srgbClr val="D4890A"/>
          </a:solidFill>
          <a:ln w="12700">
            <a:solidFill>
              <a:srgbClr val="D489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39696" y="167335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139696" y="199339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E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39696" y="234086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5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39696" y="269748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micro-learning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66160" y="2834640"/>
            <a:ext cx="155448" cy="0"/>
          </a:xfrm>
          <a:prstGeom prst="line">
            <a:avLst/>
          </a:prstGeom>
          <a:noFill/>
          <a:ln w="19050">
            <a:solidFill>
              <a:srgbClr val="D4890A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3730752" y="1645920"/>
            <a:ext cx="1508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30752" y="1645920"/>
            <a:ext cx="1508760" cy="256032"/>
          </a:xfrm>
          <a:prstGeom prst="rect">
            <a:avLst/>
          </a:prstGeom>
          <a:solidFill>
            <a:srgbClr val="2D5F35"/>
          </a:solidFill>
          <a:ln w="12700">
            <a:solidFill>
              <a:srgbClr val="2D5F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22192" y="167335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22192" y="199339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E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Proposal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822192" y="234086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5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22192" y="269748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Proposals + funding apps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248656" y="2834640"/>
            <a:ext cx="155448" cy="0"/>
          </a:xfrm>
          <a:prstGeom prst="line">
            <a:avLst/>
          </a:prstGeom>
          <a:noFill/>
          <a:ln w="19050">
            <a:solidFill>
              <a:srgbClr val="D4890A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5413248" y="1645920"/>
            <a:ext cx="1508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13248" y="1645920"/>
            <a:ext cx="1508760" cy="256032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04688" y="167335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04688" y="199339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E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504688" y="234086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5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04688" y="269748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Projections + cash flow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931152" y="2834640"/>
            <a:ext cx="155448" cy="0"/>
          </a:xfrm>
          <a:prstGeom prst="line">
            <a:avLst/>
          </a:prstGeom>
          <a:noFill/>
          <a:ln w="19050">
            <a:solidFill>
              <a:srgbClr val="D4890A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7095744" y="1645920"/>
            <a:ext cx="1508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095744" y="1645920"/>
            <a:ext cx="1508760" cy="256032"/>
          </a:xfrm>
          <a:prstGeom prst="rect">
            <a:avLst/>
          </a:prstGeom>
          <a:solidFill>
            <a:srgbClr val="4A2A6A"/>
          </a:solidFill>
          <a:ln w="12700">
            <a:solidFill>
              <a:srgbClr val="4A2A6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87184" y="167335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187184" y="199339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E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187184" y="234086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5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187184" y="269748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/ SA regulatory guidance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4160520"/>
            <a:ext cx="8366760" cy="502920"/>
          </a:xfrm>
          <a:prstGeom prst="rect">
            <a:avLst/>
          </a:prstGeom>
          <a:solidFill>
            <a:srgbClr val="0F0E0C"/>
          </a:solidFill>
          <a:ln w="12700">
            <a:solidFill>
              <a:srgbClr val="0F0E0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20624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50" kern="0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  BUSINESS MEMORY PROFILE  ⬇   All agents share persistent context about your business — your industry, financials, goals and history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8E0D0"/>
          </a:solidFill>
          <a:ln w="12700">
            <a:solidFill>
              <a:srgbClr val="E8E0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86460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52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GlowAgent  ·  Glowdom Technologies  ·  Confidential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743200" y="4864608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5A52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Sebulon David  ·  AI SADC Regional Director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D489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OPPORTUNITY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46720" y="1645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A52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massive, underserved market.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920240" cy="1554480"/>
          </a:xfrm>
          <a:prstGeom prst="rect">
            <a:avLst/>
          </a:prstGeom>
          <a:solidFill>
            <a:srgbClr val="D4890A"/>
          </a:solidFill>
          <a:ln w="12700">
            <a:solidFill>
              <a:srgbClr val="D489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0F0E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44M+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4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across Sub-Saharan Africa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188720"/>
            <a:ext cx="1920240" cy="1554480"/>
          </a:xfrm>
          <a:prstGeom prst="rect">
            <a:avLst/>
          </a:prstGeom>
          <a:solidFill>
            <a:srgbClr val="1C1A17"/>
          </a:solidFill>
          <a:ln w="12700">
            <a:solidFill>
              <a:srgbClr val="3330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2801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0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~3M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560320" y="20116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in Namibia &amp; South Africa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188720"/>
            <a:ext cx="1920240" cy="1554480"/>
          </a:xfrm>
          <a:prstGeom prst="rect">
            <a:avLst/>
          </a:prstGeom>
          <a:solidFill>
            <a:srgbClr val="1C1A17"/>
          </a:solidFill>
          <a:ln w="12700">
            <a:solidFill>
              <a:srgbClr val="3330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2801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0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$4.2T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663440" y="20116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Africa's projected GDP by 2030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75120" y="1188720"/>
            <a:ext cx="1920240" cy="1554480"/>
          </a:xfrm>
          <a:prstGeom prst="rect">
            <a:avLst/>
          </a:prstGeom>
          <a:solidFill>
            <a:srgbClr val="1C1A17"/>
          </a:solidFill>
          <a:ln w="12700">
            <a:solidFill>
              <a:srgbClr val="3330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12801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0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$9B+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766560" y="20116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EdTech market by 2030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9260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D48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ADDRESSABLE MARKET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2606040" cy="1371600"/>
          </a:xfrm>
          <a:prstGeom prst="rect">
            <a:avLst/>
          </a:prstGeom>
          <a:solidFill>
            <a:srgbClr val="1C1A17"/>
          </a:solidFill>
          <a:ln w="12700">
            <a:solidFill>
              <a:srgbClr val="D489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29184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0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02920" y="3639312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~3M businesses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39319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SADC SMEs needing business support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0" y="3246120"/>
            <a:ext cx="2606040" cy="1371600"/>
          </a:xfrm>
          <a:prstGeom prst="rect">
            <a:avLst/>
          </a:prstGeom>
          <a:solidFill>
            <a:srgbClr val="1C1A17"/>
          </a:solidFill>
          <a:ln w="12700">
            <a:solidFill>
              <a:srgbClr val="D489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329184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0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337560" y="3639312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~500K businesses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37560" y="39319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Mobile-connected SMEs in Namibia + South Africa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35040" y="3246120"/>
            <a:ext cx="2606040" cy="1371600"/>
          </a:xfrm>
          <a:prstGeom prst="rect">
            <a:avLst/>
          </a:prstGeom>
          <a:solidFill>
            <a:srgbClr val="1C1A17"/>
          </a:solidFill>
          <a:ln w="25400">
            <a:solidFill>
              <a:srgbClr val="D4890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329184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0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172200" y="3639312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10,000 target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72200" y="39319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via Glowdom network (Year 1–3)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915"/>
          </a:solidFill>
          <a:ln w="12700">
            <a:solidFill>
              <a:srgbClr val="1A191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86460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55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GlowAgent  ·  Glowdom Technologies  ·  Confidential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743200" y="4864608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555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Sebulon David  ·  AI SADC Regional Director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D489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MODEL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46720" y="1645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A52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0E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Simple, recurring, scalable.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920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3258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52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5488" y="16916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0F0E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75488" y="21945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2487168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+ health score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use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1188720"/>
            <a:ext cx="1920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78608" y="13258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52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578608" y="16916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0F0E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NAD 299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578608" y="21945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78608" y="2487168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+ Skills agents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tasks/month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1188720"/>
            <a:ext cx="1920240" cy="2560320"/>
          </a:xfrm>
          <a:prstGeom prst="rect">
            <a:avLst/>
          </a:prstGeom>
          <a:solidFill>
            <a:srgbClr val="0F0E0C"/>
          </a:solidFill>
          <a:ln w="12700">
            <a:solidFill>
              <a:srgbClr val="0F0E0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1188720"/>
            <a:ext cx="1920240" cy="292608"/>
          </a:xfrm>
          <a:prstGeom prst="rect">
            <a:avLst/>
          </a:prstGeom>
          <a:solidFill>
            <a:srgbClr val="D4890A"/>
          </a:solidFill>
          <a:ln w="12700">
            <a:solidFill>
              <a:srgbClr val="D489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21615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F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81728" y="157276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Operator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81728" y="19202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NAD 599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681728" y="24231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81728" y="26974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agents + unlimited tasks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memory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675120" y="1188720"/>
            <a:ext cx="1920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784848" y="13258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52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784848" y="16916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0F0E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NAD 999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784848" y="21945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84848" y="2487168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agents + compliance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39319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B83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REVENUE STREAMS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4224528"/>
            <a:ext cx="1920240" cy="347472"/>
          </a:xfrm>
          <a:prstGeom prst="rect">
            <a:avLst/>
          </a:prstGeom>
          <a:solidFill>
            <a:srgbClr val="B83B1A"/>
          </a:solidFill>
          <a:ln w="12700">
            <a:solidFill>
              <a:srgbClr val="B83B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24281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B2B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468880" y="4224528"/>
            <a:ext cx="1920240" cy="347472"/>
          </a:xfrm>
          <a:prstGeom prst="rect">
            <a:avLst/>
          </a:prstGeom>
          <a:solidFill>
            <a:srgbClr val="B83B1A"/>
          </a:solidFill>
          <a:ln w="12700">
            <a:solidFill>
              <a:srgbClr val="B83B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68880" y="424281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B2G Contracts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0" y="4224528"/>
            <a:ext cx="1920240" cy="347472"/>
          </a:xfrm>
          <a:prstGeom prst="rect">
            <a:avLst/>
          </a:prstGeom>
          <a:solidFill>
            <a:srgbClr val="B83B1A"/>
          </a:solidFill>
          <a:ln w="12700">
            <a:solidFill>
              <a:srgbClr val="B83B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0" y="424281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Marketplace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675120" y="4224528"/>
            <a:ext cx="1920240" cy="347472"/>
          </a:xfrm>
          <a:prstGeom prst="rect">
            <a:avLst/>
          </a:prstGeom>
          <a:solidFill>
            <a:srgbClr val="B83B1A"/>
          </a:solidFill>
          <a:ln w="12700">
            <a:solidFill>
              <a:srgbClr val="B83B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0" y="424281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NGOs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8E0D0"/>
          </a:solidFill>
          <a:ln w="12700">
            <a:solidFill>
              <a:srgbClr val="E8E0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86460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52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GlowAgent  ·  Glowdom Technologies  ·  Confidential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743200" y="4864608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5A52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Sebulon David  ·  AI SADC Regional Director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D489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TRACTION &amp; ROADMAP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46720" y="1645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A52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 days to first revenue.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606040" cy="3200400"/>
          </a:xfrm>
          <a:prstGeom prst="rect">
            <a:avLst/>
          </a:prstGeom>
          <a:solidFill>
            <a:srgbClr val="1A1815"/>
          </a:solidFill>
          <a:ln w="12700">
            <a:solidFill>
              <a:srgbClr val="2A28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2606040" cy="329184"/>
          </a:xfrm>
          <a:prstGeom prst="rect">
            <a:avLst/>
          </a:prstGeom>
          <a:solidFill>
            <a:srgbClr val="B83B1A"/>
          </a:solidFill>
          <a:ln w="12700">
            <a:solidFill>
              <a:srgbClr val="B83B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7043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Weeks 1–3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75488" y="157276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5488" y="2057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Diagnostic Agent live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5488" y="24414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Business memory system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5488" y="282549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Mobile web app deployed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" y="3730752"/>
            <a:ext cx="2377440" cy="384048"/>
          </a:xfrm>
          <a:prstGeom prst="rect">
            <a:avLst/>
          </a:prstGeom>
          <a:solidFill>
            <a:srgbClr val="B83B1A">
              <a:alpha val="20000"/>
            </a:srgbClr>
          </a:solidFill>
          <a:ln w="12700">
            <a:solidFill>
              <a:srgbClr val="B83B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374904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🏁  Working MVP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1143000"/>
            <a:ext cx="2606040" cy="3200400"/>
          </a:xfrm>
          <a:prstGeom prst="rect">
            <a:avLst/>
          </a:prstGeom>
          <a:solidFill>
            <a:srgbClr val="1A1815"/>
          </a:solidFill>
          <a:ln w="12700">
            <a:solidFill>
              <a:srgbClr val="2A28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1143000"/>
            <a:ext cx="2606040" cy="329184"/>
          </a:xfrm>
          <a:prstGeom prst="rect">
            <a:avLst/>
          </a:prstGeom>
          <a:solidFill>
            <a:srgbClr val="D4890A"/>
          </a:solidFill>
          <a:ln w="12700">
            <a:solidFill>
              <a:srgbClr val="D489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0128" y="117043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Weeks 4–8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310128" y="157276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Stack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310128" y="2057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Proposal + Finance agents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10128" y="24414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Skills micro-learning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10128" y="282549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Payments integrated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10128" y="3730752"/>
            <a:ext cx="2377440" cy="384048"/>
          </a:xfrm>
          <a:prstGeom prst="rect">
            <a:avLst/>
          </a:prstGeom>
          <a:solidFill>
            <a:srgbClr val="D4890A">
              <a:alpha val="20000"/>
            </a:srgbClr>
          </a:solidFill>
          <a:ln w="12700">
            <a:solidFill>
              <a:srgbClr val="D489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0128" y="374904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🏁  Full product live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35040" y="1143000"/>
            <a:ext cx="2606040" cy="3200400"/>
          </a:xfrm>
          <a:prstGeom prst="rect">
            <a:avLst/>
          </a:prstGeom>
          <a:solidFill>
            <a:srgbClr val="1A1815"/>
          </a:solidFill>
          <a:ln w="12700">
            <a:solidFill>
              <a:srgbClr val="2A282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1143000"/>
            <a:ext cx="2606040" cy="329184"/>
          </a:xfrm>
          <a:prstGeom prst="rect">
            <a:avLst/>
          </a:prstGeom>
          <a:solidFill>
            <a:srgbClr val="2D5F35"/>
          </a:solidFill>
          <a:ln w="12700">
            <a:solidFill>
              <a:srgbClr val="2D5F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44768" y="117043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Weeks 9–12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144768" y="157276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&amp; Revenue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144768" y="2057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20 SME pilot cohort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144768" y="24414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10 paying subscribers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144768" y="282549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Traction case studies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44768" y="3730752"/>
            <a:ext cx="2377440" cy="384048"/>
          </a:xfrm>
          <a:prstGeom prst="rect">
            <a:avLst/>
          </a:prstGeom>
          <a:solidFill>
            <a:srgbClr val="2D5F35">
              <a:alpha val="20000"/>
            </a:srgbClr>
          </a:solidFill>
          <a:ln w="12700">
            <a:solidFill>
              <a:srgbClr val="2D5F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44768" y="374904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🏁  ZAR 5K MRR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915"/>
          </a:solidFill>
          <a:ln w="12700">
            <a:solidFill>
              <a:srgbClr val="1A191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86460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55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GlowAgent  ·  Glowdom Technologies  ·  Confidential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743200" y="4864608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555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Sebulon David  ·  AI SADC Regional Director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D489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 ADVANTAGE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46720" y="1645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A52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0E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moat is Africa itself.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0241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build an AI tool. No-one else has what we have.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54480"/>
            <a:ext cx="54864" cy="1234440"/>
          </a:xfrm>
          <a:prstGeom prst="rect">
            <a:avLst/>
          </a:prstGeom>
          <a:solidFill>
            <a:srgbClr val="D4890A"/>
          </a:solidFill>
          <a:ln w="12700">
            <a:solidFill>
              <a:srgbClr val="D489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645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E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🌍  SADC Context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1993392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Namibian and South African compliance, funding, and market knowledge. Not a global tool retrofitted for Africa.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55448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554480"/>
            <a:ext cx="54864" cy="1234440"/>
          </a:xfrm>
          <a:prstGeom prst="rect">
            <a:avLst/>
          </a:prstGeom>
          <a:solidFill>
            <a:srgbClr val="D4890A"/>
          </a:solidFill>
          <a:ln w="12700">
            <a:solidFill>
              <a:srgbClr val="D489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1645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E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🔗  Network Access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64992" y="1993392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Sebulon David's SADC-wide SME network, government council relationships, and regional AI leadership create zero-cost distribution.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155448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554480"/>
            <a:ext cx="54864" cy="1234440"/>
          </a:xfrm>
          <a:prstGeom prst="rect">
            <a:avLst/>
          </a:prstGeom>
          <a:solidFill>
            <a:srgbClr val="D4890A"/>
          </a:solidFill>
          <a:ln w="12700">
            <a:solidFill>
              <a:srgbClr val="D489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9632" y="1645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E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📊  Proprietary Data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99632" y="1993392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SME that onboards builds a richer African business dataset — a compound advantage that grows with scale.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297180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971800"/>
            <a:ext cx="54864" cy="1234440"/>
          </a:xfrm>
          <a:prstGeom prst="rect">
            <a:avLst/>
          </a:prstGeom>
          <a:solidFill>
            <a:srgbClr val="D4890A"/>
          </a:solidFill>
          <a:ln w="12700">
            <a:solidFill>
              <a:srgbClr val="D489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3063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E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🏛️  Policy Influence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0352" y="3410712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Council membership in Namibia and SA creates a pathway to B2G contracts and favourable regulatory positioning.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0" y="297180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2971800"/>
            <a:ext cx="54864" cy="1234440"/>
          </a:xfrm>
          <a:prstGeom prst="rect">
            <a:avLst/>
          </a:prstGeom>
          <a:solidFill>
            <a:srgbClr val="D4890A"/>
          </a:solidFill>
          <a:ln w="12700">
            <a:solidFill>
              <a:srgbClr val="D489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64992" y="3063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E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⚡  First Mover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64992" y="3410712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agentic, dual-mode (education + operations) SME platform exists in SADC. We have 12–18 months before credible competition arrives.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35040" y="297180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2971800"/>
            <a:ext cx="54864" cy="1234440"/>
          </a:xfrm>
          <a:prstGeom prst="rect">
            <a:avLst/>
          </a:prstGeom>
          <a:solidFill>
            <a:srgbClr val="D4890A"/>
          </a:solidFill>
          <a:ln w="12700">
            <a:solidFill>
              <a:srgbClr val="D4890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99632" y="3063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E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🤖  AI-Native Build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99632" y="3410712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solo using AI agents — giving Glowdom a structural cost advantage over teams of 10 building the same product.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8E0D0"/>
          </a:solidFill>
          <a:ln w="12700">
            <a:solidFill>
              <a:srgbClr val="E8E0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86460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52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GlowAgent  ·  Glowdom Technologies  ·  Confidential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743200" y="4864608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5A52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Sebulon David  ·  AI SADC Regional Director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D489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PROJECTIONS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46720" y="1645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A52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Conservative. Credible. Fundable.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06040" cy="2194560"/>
          </a:xfrm>
          <a:prstGeom prst="rect">
            <a:avLst/>
          </a:prstGeom>
          <a:solidFill>
            <a:srgbClr val="1C1A17"/>
          </a:solidFill>
          <a:ln w="12700">
            <a:solidFill>
              <a:srgbClr val="2A28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6187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0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6276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paying users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ZAR 100K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23957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A6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27432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89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ZAR 1.2M  ARR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0" y="1188720"/>
            <a:ext cx="2606040" cy="2194560"/>
          </a:xfrm>
          <a:prstGeom prst="rect">
            <a:avLst/>
          </a:prstGeom>
          <a:solidFill>
            <a:srgbClr val="1A2A1A"/>
          </a:solidFill>
          <a:ln w="12700">
            <a:solidFill>
              <a:srgbClr val="2A28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26187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0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 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37560" y="16276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paying users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7560" y="1965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ZAR 800K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37560" y="23957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A6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37560" y="27432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89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ZAR 9.6M  ARR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35040" y="1188720"/>
            <a:ext cx="2606040" cy="2194560"/>
          </a:xfrm>
          <a:prstGeom prst="rect">
            <a:avLst/>
          </a:prstGeom>
          <a:solidFill>
            <a:srgbClr val="1A1A2A"/>
          </a:solidFill>
          <a:ln w="25400">
            <a:solidFill>
              <a:srgbClr val="D489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26187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0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 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72200" y="16276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paying users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72200" y="1965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ZAR 3M+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172200" y="23957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A6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72200" y="27432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89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ZAR 36M+  ARR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3566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D48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ASSUMPTIONS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385876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Avg subscription: ZAR 450/month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651760" y="385876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Free-to-paid conversion: 30%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385876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Monthly churn target: &lt;5%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40880" y="385876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SADC network as primary distribution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915"/>
          </a:solidFill>
          <a:ln w="12700">
            <a:solidFill>
              <a:srgbClr val="1A191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86460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55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GlowAgent  ·  Glowdom Technologies  ·  Confidential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743200" y="4864608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555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Sebulon David  ·  AI SADC Regional Director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D489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46720" y="1645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A52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890A"/>
          </a:solidFill>
          <a:ln w="12700">
            <a:solidFill>
              <a:srgbClr val="D489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5720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0E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0F0E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 building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0F0E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towards.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214884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raising a pre-seed round to accelerate the build, expand the pilot cohort, and establish GlowAgent as the definitive agentic platform for African entrepreneurship.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0" y="4572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B83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0" y="777240"/>
            <a:ext cx="32918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0" y="777240"/>
            <a:ext cx="54864" cy="868680"/>
          </a:xfrm>
          <a:prstGeom prst="rect">
            <a:avLst/>
          </a:prstGeom>
          <a:solidFill>
            <a:srgbClr val="D4890A"/>
          </a:solidFill>
          <a:ln w="12700">
            <a:solidFill>
              <a:srgbClr val="D489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50992" y="80467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0F0E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650992" y="114300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0E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Development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92240" y="8229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stack, WhatsApp integration, mobile PWA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0" y="1737360"/>
            <a:ext cx="32918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0" y="1737360"/>
            <a:ext cx="54864" cy="868680"/>
          </a:xfrm>
          <a:prstGeom prst="rect">
            <a:avLst/>
          </a:prstGeom>
          <a:solidFill>
            <a:srgbClr val="B83B1A"/>
          </a:solidFill>
          <a:ln w="12700">
            <a:solidFill>
              <a:srgbClr val="B83B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50992" y="176479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0F0E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650992" y="21031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0E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Go-to-Market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92240" y="17830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pilot cohort, content, community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0" y="2697480"/>
            <a:ext cx="32918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0" y="2697480"/>
            <a:ext cx="54864" cy="868680"/>
          </a:xfrm>
          <a:prstGeom prst="rect">
            <a:avLst/>
          </a:prstGeom>
          <a:solidFill>
            <a:srgbClr val="2D5F35"/>
          </a:solidFill>
          <a:ln w="12700">
            <a:solidFill>
              <a:srgbClr val="2D5F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272491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0F0E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650992" y="30632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0E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92240" y="27432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Hosting, API costs, tooling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0" y="3657600"/>
            <a:ext cx="32918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0" y="3657600"/>
            <a:ext cx="54864" cy="868680"/>
          </a:xfrm>
          <a:prstGeom prst="rect">
            <a:avLst/>
          </a:prstGeom>
          <a:solidFill>
            <a:srgbClr val="2D5F35"/>
          </a:solidFill>
          <a:ln w="12700">
            <a:solidFill>
              <a:srgbClr val="2D5F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50992" y="368503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0F0E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650992" y="402336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0E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Legal &amp; Compliance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2240" y="370332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protection, entity structure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4160520"/>
            <a:ext cx="4846320" cy="658368"/>
          </a:xfrm>
          <a:prstGeom prst="rect">
            <a:avLst/>
          </a:prstGeom>
          <a:solidFill>
            <a:srgbClr val="0F0E0C"/>
          </a:solidFill>
          <a:ln w="12700">
            <a:solidFill>
              <a:srgbClr val="0F0E0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187952"/>
            <a:ext cx="46634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0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build the operating system for African entrepreneurship — together.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8E0D0"/>
          </a:solidFill>
          <a:ln w="12700">
            <a:solidFill>
              <a:srgbClr val="E8E0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86460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52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GlowAgent  ·  Glowdom Technologies  ·  Confidential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743200" y="4864608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5A52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Sebulon David  ·  AI SADC Regional Director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D489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TEAM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46720" y="1645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A52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right person,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the right time.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65760" y="1737360"/>
            <a:ext cx="5303520" cy="2560320"/>
          </a:xfrm>
          <a:prstGeom prst="rect">
            <a:avLst/>
          </a:prstGeom>
          <a:solidFill>
            <a:srgbClr val="1C1A17"/>
          </a:solidFill>
          <a:ln w="12700">
            <a:solidFill>
              <a:srgbClr val="2A28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737360"/>
            <a:ext cx="5303520" cy="329184"/>
          </a:xfrm>
          <a:prstGeom prst="rect">
            <a:avLst/>
          </a:prstGeom>
          <a:solidFill>
            <a:srgbClr val="D4890A"/>
          </a:solidFill>
          <a:ln w="12700">
            <a:solidFill>
              <a:srgbClr val="D489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6479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F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21488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Sebulon David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20" y="2697480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AI SADC Regional Director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3035808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Council Member — Creative &amp; Entrepreneurship (Namibia &amp; SA)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374136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Founder, Glowdom Technologies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712464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Business Consulting · Strategic Innovation · African Network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0" y="1737360"/>
            <a:ext cx="2834640" cy="2560320"/>
          </a:xfrm>
          <a:prstGeom prst="rect">
            <a:avLst/>
          </a:prstGeom>
          <a:solidFill>
            <a:srgbClr val="D4890A"/>
          </a:solidFill>
          <a:ln w="12700">
            <a:solidFill>
              <a:srgbClr val="D489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7830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0F0E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</a:t>
            </a:r>
            <a:endParaRPr lang="en-US" sz="3000" dirty="0"/>
          </a:p>
          <a:p>
            <a:pPr indent="0" marL="0">
              <a:buNone/>
            </a:pPr>
            <a:r>
              <a:rPr lang="en-US" sz="3000" b="1" i="1" dirty="0">
                <a:solidFill>
                  <a:srgbClr val="0F0E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now?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035040" y="2788920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AI is mature enough to deploy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35040" y="3136392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SADC SME crisis is acute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35040" y="348386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Network ready to distribute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35040" y="3831336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First-mover window is open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D4890A"/>
          </a:solidFill>
          <a:ln w="12700">
            <a:solidFill>
              <a:srgbClr val="D489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62686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F0E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GlowAgent  ·  Built in Namibia. Built for Africa. Built to last.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GlowAgent — Investor Pitch Deck</dc:title>
  <dc:subject>PptxGenJS Presentation</dc:subject>
  <dc:creator>Sebulon David</dc:creator>
  <cp:lastModifiedBy>Sebulon David</cp:lastModifiedBy>
  <cp:revision>1</cp:revision>
  <dcterms:created xsi:type="dcterms:W3CDTF">2026-03-27T02:24:44Z</dcterms:created>
  <dcterms:modified xsi:type="dcterms:W3CDTF">2026-03-27T02:24:44Z</dcterms:modified>
</cp:coreProperties>
</file>